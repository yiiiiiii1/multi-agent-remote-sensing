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攻击侧：多轮攻击范式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导师给的三步——前两步都很轻，谁都不会报警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这三条特殊性，在下面每一篇的防御设计里都会成为判断依据。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领域坐标：A-I-R 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出处：E4 SoK（系统化了 197 篇工作）——八篇各落在不同位置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STHeiti"/>
              </a:rPr>
              <a:t>A 攻击者位置      →      I 交互接口      →    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4320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核心论点：单独安全的 Agent，一起用会失败。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7355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01568"/>
            <a:ext cx="495741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F6FB2"/>
                </a:solidFill>
                <a:latin typeface="STHeiti"/>
              </a:rPr>
              <a:t>六个交互接口（攻击从哪进来）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I1 准入　·　I2 消息传递　·　I3 状态传播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I4 权限与动作　·　I5 集体决策　·　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27355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3401568"/>
            <a:ext cx="495741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A1 外部　·　A2 用户级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B3261E"/>
                </a:solidFill>
                <a:latin typeface="STHeiti"/>
              </a:rPr>
              <a:t>A3 成员级（多智能体独有）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285232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404104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卫星场景里最贴合本次威胁的是「成员级攻击者」——它对应「一个 Agent 被污染，再去影响其他 Agent」。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多轮渐进越狱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8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565889"/>
                <a:gridCol w="3491949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对比对象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提升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vs GPT-4 上其他 SOTA 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+29% ~ +61%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vs Gemini-Pro 上其他 SOTA 越狱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+49% ~ +71%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ChatGPT / Gemini / LLaMA / Anthropic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6A00"/>
                </a:solidFill>
                <a:latin typeface="STHeiti"/>
              </a:rPr>
              <a:t>Self-Reminder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部分有效：难任务降了，Election 等不受影响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85616"/>
            <a:ext cx="11057839" cy="64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另可破多模态模型（生成本来会拒绝的图）。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论文 §6.3 的立场：应该假设当前 LLM 最终都会被越狱，所以要在系统层设计。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ICML 2026（PMLR 306）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57839" cy="14036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50" b="0">
                <a:solidFill>
                  <a:srgbClr val="0E8F82"/>
                </a:solidFill>
                <a:latin typeface="STHeiti"/>
              </a:rPr>
              <a:t>· </a:t>
            </a:r>
            <a:r>
              <a:rPr sz="13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0E8F82"/>
                </a:solidFill>
                <a:latin typeface="STHeiti"/>
              </a:rPr>
              <a:t>· </a:t>
            </a:r>
            <a:r>
              <a:rPr sz="13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0E8F82"/>
                </a:solidFill>
                <a:latin typeface="STHeiti"/>
              </a:rPr>
              <a:t>· </a:t>
            </a:r>
            <a:r>
              <a:rPr sz="13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0E8F82"/>
                </a:solidFill>
                <a:latin typeface="STHeiti"/>
              </a:rPr>
              <a:t>· </a:t>
            </a:r>
            <a:r>
              <a:rPr sz="13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7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117102"/>
                <a:gridCol w="2352731"/>
                <a:gridCol w="2588004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攻击类别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基线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四层全上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直接注入（用户输入）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19%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3.8%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工具输出间接注入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43%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4.6%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Agent 间消息注入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31%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1.2%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级联注入（操控编排者）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28%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3.4%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443984"/>
            <a:ext cx="11057839" cy="64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单层效果：签名让 Agent 间注入 31%→2.8%；净化让间接注入 43%→9.5%；权限限定提权全拦、零运行时延迟；异常检测抓住 84% 的级联攻击。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论文留下的缺口：multimodal agents face additional injection surfaces that we do not address。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arXiv:2607.18063（预印本）　·　Agents in the Wild 工作坊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自适应多轮评测基准——证明单轮评测会把风险低估一个数量级。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防守方每轮按「全新交互」评，必须区分跨轮记忆和跨轮会话。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9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54221"/>
                <a:gridCol w="5103618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评测方式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攻击成功率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只算第一轮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0–1%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允许 15 轮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7.9–16.8%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 LLM 合起来，比最好的单个多找到的唯一成功输入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85616"/>
            <a:ext cx="11057839" cy="350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它的价值在于：把「多轮评测」从主张变成了可复用的基准。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arXiv:2609.17648（预印本）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 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6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69717"/>
                <a:gridCol w="2764459"/>
                <a:gridCol w="2261830"/>
                <a:gridCol w="226183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UAR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JBR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Agent 劫持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Agent 劫持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3261E"/>
                </a:solidFill>
                <a:latin typeface="STHeiti"/>
              </a:rPr>
              <a:t>签名 ⊥ 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443984"/>
            <a:ext cx="11057839" cy="350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关键消融针对的是持有签名密钥的攻击者——这是最强的攻击者模型。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但它只守住了控制流——参数仍然可以被改。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安全博弈——攻击者要造出不在允许集合里的动作。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8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60324"/>
                <a:gridCol w="5897514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任务完成率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无防御系统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84%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67%**（且带可证明的安全性）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gemini-2.5 / claude-sonnet-4 / gpt-4.1 / o4-mini / o3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arXiv v2 报 77%，正式版报 67%——引用要注明版本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85616"/>
            <a:ext cx="11057839" cy="350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non-goal：不防「文本到文本」的攻击——只改变生成内容、不影响控制流/数据流的攻击它管不了。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它把问题换掉了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写程序，解释器执行（就是 CaMeL 那条路）。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46689"/>
                <a:gridCol w="3225203"/>
                <a:gridCol w="3685946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模式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只防「改动作」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也防「改参数」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Action-Selector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是（切断回流）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—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Plan-Then-Execute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是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否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Code-Then-Execute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是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否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Dual LLM / CaMeL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是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是（capability）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3328416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3410712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443984"/>
            <a:ext cx="11057839" cy="350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论文自己承认：Plan-Then-Execute 与 Code-Then-Execute 都只防改动作，不防改参数——这正是 CaMeL 要补的。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用多智能体「推测—验证」，提前发现分散在多轮里的恶意意图。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目标是提前发现分散在多轮里、隐藏未来风险的恶意意图。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攻击者把深层恶意意图拆散到多轮里，单点判断看不出来。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配合现有检测器，把 ASR 压到 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9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804824"/>
                <a:gridCol w="4253015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攻击成功率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PromptGuard 单用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12.25%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Judger 单用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10.48%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SSH + 任一检测器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2999232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81528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2999232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3081528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2999232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3081528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114800"/>
            <a:ext cx="11057839" cy="64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全文核查：belief / cognitive / internal state 出现 0 次；它用的是 action-level 与 future behaviors。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作者自承的局限：并行推测的显存与功耗不可忽略——这是它的主要代价。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STHeiti"/>
              </a:rPr>
              <a:t>本篇四页：动机与难点 → 模型 → 实验结果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它的问题陈述写得很好：现有防御面临一个两难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意图锚点：逻辑不变量，例如 Scope==Travel_Logi、Transaction_TYPE==Merchant_Payment。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57838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28919"/>
                <a:gridCol w="5528919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对比对象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vs SOTA 动态防御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ASR 再降 22% 以上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攻击下的可用性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2272E"/>
                          </a:solidFill>
                          <a:latin typeface="STHeiti"/>
                        </a:rPr>
                        <a:t>翻倍**（对比静态基线）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9930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3082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2932" y="2670048"/>
            <a:ext cx="3551834" cy="93268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6084" y="2752344"/>
            <a:ext cx="340553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85616"/>
            <a:ext cx="11057839" cy="350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1">
                <a:solidFill>
                  <a:srgbClr val="22272E"/>
                </a:solidFill>
                <a:latin typeface="STHeiti"/>
              </a:rPr>
              <a:t>它的定位：从「限制隔离」转向「先验证再提交」。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推测式/有状态防御的开销，在算力受限下没人验证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858768"/>
          <a:ext cx="1105783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7506"/>
                <a:gridCol w="5370950"/>
                <a:gridCol w="3159382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669280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88152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这四条路线都建立在同一个前提上：算力充裕——而卫星场景恰恰相反。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后续调研计划与需要确认的问题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接下来读什么、以及需要老师定的三件事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0E8F82"/>
                </a:solidFill>
                <a:latin typeface="STHeiti"/>
              </a:rPr>
              <a:t>接下来要读的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CoopGuard 全文（多智能体协作防御）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Governing the Intelligence Loop（CMU，航天 + 认知脆弱性）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Pictionary（ETH，通道转换这类结构型防御）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Toward Trustworthy Agentic AI（多模态溯源）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E4 SoK 的来源清单（顺着引用往回查）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3903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C86A00"/>
                </a:solidFill>
                <a:latin typeface="STHeiti"/>
              </a:rPr>
              <a:t>需要确认的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场景边界：星上 MAS，还是天地一体化 MAS？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决定后续关注哪条信任边界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调研要覆盖到多深？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只做文献综述，还是要复现 / 对比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要不要往卫星方向收？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决定下一步读航天那几篇的优先级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请老师指正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